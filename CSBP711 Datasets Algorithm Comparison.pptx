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398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256032"/>
            <a:ext cx="1700784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64592"/>
            <a:ext cx="8869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1E2732"/>
                </a:solidFill>
                <a:latin typeface="Aptos"/>
              </a:rPr>
              <a:t>Dataset &amp; Research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6" y="542282"/>
            <a:ext cx="983557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b="1" dirty="0"/>
              <a:t>Predicting Late Sprint Closure and Unfinished Committed Scope from Reconstructed Jira Histories</a:t>
            </a:r>
            <a:endParaRPr b="1" dirty="0">
              <a:solidFill>
                <a:srgbClr val="545C67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12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1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6574536"/>
            <a:ext cx="8046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Aptos"/>
              </a:rPr>
              <a:t>CSBP711 Advanced Artificial Intelligence  |  Datasets and Algorithm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74536"/>
            <a:ext cx="320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1188720"/>
            <a:ext cx="2651760" cy="292608"/>
          </a:xfrm>
          <a:prstGeom prst="roundRect">
            <a:avLst/>
          </a:prstGeom>
          <a:solidFill>
            <a:srgbClr val="E11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HOW A SCRUM SPRINT WORKS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1188720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45C67"/>
                </a:solidFill>
                <a:latin typeface="Aptos"/>
              </a:rPr>
              <a:t>Scrum teams work in short, fixed time-boxes called sprints.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1691640"/>
            <a:ext cx="1828800" cy="1097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300" b="1" i="0">
                <a:solidFill>
                  <a:srgbClr val="123356"/>
                </a:solidFill>
                <a:latin typeface="Aptos"/>
              </a:rPr>
              <a:t>Product Backlog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545C67"/>
                </a:solidFill>
                <a:latin typeface="Aptos"/>
              </a:rPr>
              <a:t>All work waiting to be done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487168" y="2103120"/>
            <a:ext cx="256032" cy="274320"/>
          </a:xfrm>
          <a:prstGeom prst="rightArrow">
            <a:avLst/>
          </a:prstGeom>
          <a:solidFill>
            <a:srgbClr val="545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834640" y="1691640"/>
            <a:ext cx="1965960" cy="1097280"/>
          </a:xfrm>
          <a:prstGeom prst="roundRect">
            <a:avLst/>
          </a:prstGeom>
          <a:solidFill>
            <a:srgbClr val="123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Sprint Planning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FFFFFF"/>
                </a:solidFill>
                <a:latin typeface="Aptos"/>
              </a:rPr>
              <a:t>Team commits to issues &amp; story points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892040" y="2103120"/>
            <a:ext cx="256032" cy="274320"/>
          </a:xfrm>
          <a:prstGeom prst="rightArrow">
            <a:avLst/>
          </a:prstGeom>
          <a:solidFill>
            <a:srgbClr val="545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239512" y="1691640"/>
            <a:ext cx="3904487" cy="1097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123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051560" bIns="164592" rtlCol="0" anchor="ctr"/>
          <a:lstStyle/>
          <a:p>
            <a:pPr algn="l"/>
            <a:r>
              <a:rPr sz="1400" b="1" i="0">
                <a:solidFill>
                  <a:srgbClr val="123356"/>
                </a:solidFill>
                <a:latin typeface="Aptos"/>
              </a:rPr>
              <a:t>The Sprint</a:t>
            </a:r>
            <a:r>
              <a:rPr sz="1100" b="0" i="0">
                <a:solidFill>
                  <a:srgbClr val="545C67"/>
                </a:solidFill>
                <a:latin typeface="Aptos"/>
              </a:rPr>
              <a:t>  ·  1–4 weeks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1E2732"/>
                </a:solidFill>
                <a:latin typeface="Aptos"/>
              </a:rPr>
              <a:t>Works only on the committed issues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E2732"/>
                </a:solidFill>
                <a:latin typeface="Aptos"/>
              </a:rPr>
              <a:t>Goal: finish all by the planned end</a:t>
            </a:r>
          </a:p>
        </p:txBody>
      </p:sp>
      <p:sp>
        <p:nvSpPr>
          <p:cNvPr id="51" name="Oval 50"/>
          <p:cNvSpPr/>
          <p:nvPr/>
        </p:nvSpPr>
        <p:spPr>
          <a:xfrm>
            <a:off x="8257031" y="1874520"/>
            <a:ext cx="731520" cy="731520"/>
          </a:xfrm>
          <a:prstGeom prst="ellipse">
            <a:avLst/>
          </a:prstGeom>
          <a:solidFill>
            <a:srgbClr val="E11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Daily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Scrum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235440" y="2103120"/>
            <a:ext cx="256032" cy="274320"/>
          </a:xfrm>
          <a:prstGeom prst="rightArrow">
            <a:avLst/>
          </a:prstGeom>
          <a:solidFill>
            <a:srgbClr val="545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582912" y="1691640"/>
            <a:ext cx="2011680" cy="1097280"/>
          </a:xfrm>
          <a:prstGeom prst="roundRect">
            <a:avLst/>
          </a:prstGeom>
          <a:solidFill>
            <a:srgbClr val="123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Review &amp; Close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FFFFFF"/>
                </a:solidFill>
                <a:latin typeface="Aptos"/>
              </a:rPr>
              <a:t>Planned end date: sprint is closed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3703320" y="2926080"/>
            <a:ext cx="228600" cy="164592"/>
          </a:xfrm>
          <a:prstGeom prst="triangle">
            <a:avLst/>
          </a:prstGeom>
          <a:solidFill>
            <a:srgbClr val="E11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34640" y="3154680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E11421"/>
                </a:solidFill>
                <a:latin typeface="Aptos"/>
              </a:rPr>
              <a:t>WE PREDICT HERE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545C67"/>
                </a:solidFill>
                <a:latin typeface="Aptos"/>
              </a:rPr>
              <a:t>using only what was known at sprint start</a:t>
            </a:r>
          </a:p>
        </p:txBody>
      </p:sp>
      <p:sp>
        <p:nvSpPr>
          <p:cNvPr id="56" name="Isosceles Triangle 55"/>
          <p:cNvSpPr/>
          <p:nvPr/>
        </p:nvSpPr>
        <p:spPr>
          <a:xfrm>
            <a:off x="10469880" y="2926080"/>
            <a:ext cx="228600" cy="164592"/>
          </a:xfrm>
          <a:prstGeom prst="triangle">
            <a:avLst/>
          </a:prstGeom>
          <a:solidFill>
            <a:srgbClr val="E11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55080" y="3154680"/>
            <a:ext cx="2542032" cy="685800"/>
          </a:xfrm>
          <a:prstGeom prst="roundRect">
            <a:avLst/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200" b="1" i="0">
                <a:solidFill>
                  <a:srgbClr val="123356"/>
                </a:solidFill>
                <a:latin typeface="Aptos"/>
              </a:rPr>
              <a:t>1  Late closure?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45C67"/>
                </a:solidFill>
                <a:latin typeface="Aptos"/>
              </a:rPr>
              <a:t>Sprint closes &gt;1 day after its planned end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43416" y="3154680"/>
            <a:ext cx="2542032" cy="685800"/>
          </a:xfrm>
          <a:prstGeom prst="roundRect">
            <a:avLst/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200" b="1" i="0">
                <a:solidFill>
                  <a:srgbClr val="123356"/>
                </a:solidFill>
                <a:latin typeface="Aptos"/>
              </a:rPr>
              <a:t>2  Spill over?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45C67"/>
                </a:solidFill>
                <a:latin typeface="Aptos"/>
              </a:rPr>
              <a:t>A committed issue is still unresolved at the end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114800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23356"/>
                </a:solidFill>
                <a:latin typeface="Aptos"/>
              </a:rPr>
              <a:t>Can we tell from the planning data which sprints will struggle?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89204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32"/>
                </a:solidFill>
                <a:latin typeface="Aptos"/>
              </a:rPr>
              <a:t>TAWOS is a public dataset of Agile open-source projects, taken from Jira. We picked eight of them and try to predict, at sprint planning, which sprints will close late or leave work unfinished.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1E2732"/>
                </a:solidFill>
                <a:latin typeface="Aptos"/>
              </a:rPr>
              <a:t>The hard part: </a:t>
            </a:r>
            <a:r>
              <a:rPr sz="1200" b="0" i="0">
                <a:solidFill>
                  <a:srgbClr val="1E2732"/>
                </a:solidFill>
                <a:latin typeface="Aptos"/>
              </a:rPr>
              <a:t>working out what the team knew on day one, without peeking at what happened later.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55080" y="4114800"/>
            <a:ext cx="1645920" cy="86868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2000" b="1" i="0">
                <a:solidFill>
                  <a:srgbClr val="E11421"/>
                </a:solidFill>
                <a:latin typeface="Aptos"/>
              </a:rPr>
              <a:t>2,657</a:t>
            </a:r>
          </a:p>
          <a:p>
            <a:pPr algn="l">
              <a:spcBef>
                <a:spcPts val="200"/>
              </a:spcBef>
            </a:pPr>
            <a:r>
              <a:rPr sz="1000" b="1" i="0">
                <a:solidFill>
                  <a:srgbClr val="545C67"/>
                </a:solidFill>
                <a:latin typeface="Aptos"/>
              </a:rPr>
              <a:t>original sprint 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4114800"/>
            <a:ext cx="1645920" cy="86868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2000" b="1" i="0">
                <a:solidFill>
                  <a:srgbClr val="123356"/>
                </a:solidFill>
                <a:latin typeface="Aptos"/>
              </a:rPr>
              <a:t>145,309</a:t>
            </a:r>
          </a:p>
          <a:p>
            <a:pPr algn="l">
              <a:spcBef>
                <a:spcPts val="200"/>
              </a:spcBef>
            </a:pPr>
            <a:r>
              <a:rPr sz="1000" b="1" i="0">
                <a:solidFill>
                  <a:srgbClr val="545C67"/>
                </a:solidFill>
                <a:latin typeface="Aptos"/>
              </a:rPr>
              <a:t>issues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21240" y="4114800"/>
            <a:ext cx="1645920" cy="86868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2000" b="1" i="0">
                <a:solidFill>
                  <a:srgbClr val="E11421"/>
                </a:solidFill>
                <a:latin typeface="Aptos"/>
              </a:rPr>
              <a:t>8</a:t>
            </a:r>
          </a:p>
          <a:p>
            <a:pPr algn="l">
              <a:spcBef>
                <a:spcPts val="200"/>
              </a:spcBef>
            </a:pPr>
            <a:r>
              <a:rPr sz="1000" b="1" i="0">
                <a:solidFill>
                  <a:srgbClr val="545C67"/>
                </a:solidFill>
                <a:latin typeface="Aptos"/>
              </a:rPr>
              <a:t>open-source projects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1663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545C67"/>
                </a:solidFill>
                <a:latin typeface="Aptos"/>
              </a:rPr>
              <a:t>Core tables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79" y="5166360"/>
            <a:ext cx="1234440" cy="292608"/>
          </a:xfrm>
          <a:prstGeom prst="roundRect">
            <a:avLst/>
          </a:prstGeom>
          <a:solidFill>
            <a:srgbClr val="123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Sprint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5166360"/>
            <a:ext cx="1234440" cy="292608"/>
          </a:xfrm>
          <a:prstGeom prst="roundRect">
            <a:avLst/>
          </a:prstGeom>
          <a:solidFill>
            <a:srgbClr val="123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Issue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41280" y="5166360"/>
            <a:ext cx="1234440" cy="292608"/>
          </a:xfrm>
          <a:prstGeom prst="roundRect">
            <a:avLst/>
          </a:prstGeom>
          <a:solidFill>
            <a:srgbClr val="E11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Change_Log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532120"/>
            <a:ext cx="5257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23356"/>
                </a:solidFill>
                <a:latin typeface="Aptos"/>
              </a:rPr>
              <a:t>Maryam Hanif  •  Hani AbuSharkh 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5989320"/>
            <a:ext cx="5257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dirty="0">
                <a:solidFill>
                  <a:srgbClr val="545C67"/>
                </a:solidFill>
                <a:latin typeface="Aptos"/>
              </a:rPr>
              <a:t>GitHub</a:t>
            </a:r>
            <a:r>
              <a:rPr sz="1000" b="1" i="0">
                <a:solidFill>
                  <a:srgbClr val="545C67"/>
                </a:solidFill>
                <a:latin typeface="Aptos"/>
              </a:rPr>
              <a:t>: </a:t>
            </a:r>
            <a:r>
              <a:rPr lang="en-US" sz="1000" b="1">
                <a:solidFill>
                  <a:srgbClr val="545C67"/>
                </a:solidFill>
                <a:latin typeface="Aptos"/>
              </a:rPr>
              <a:t>https://github.com/hani-ziad/AdvAI_Assign1_Maryam_Hani</a:t>
            </a:r>
            <a:endParaRPr sz="1000" b="1" i="0" dirty="0">
              <a:solidFill>
                <a:srgbClr val="545C67"/>
              </a:solidFill>
              <a:latin typeface="Aptos"/>
            </a:endParaRPr>
          </a:p>
        </p:txBody>
      </p:sp>
      <p:sp>
        <p:nvSpPr>
          <p:cNvPr id="6" name="TextBox 68"/>
          <p:cNvSpPr txBox="1"/>
          <p:nvPr/>
        </p:nvSpPr>
        <p:spPr>
          <a:xfrm>
            <a:off x="6355080" y="623620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45C67"/>
                </a:solidFill>
                <a:latin typeface="Aptos"/>
              </a:rPr>
              <a:t>Data: TAWOS, doi.org/10.5522/04/21308124 (Apache-2.0)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1700784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64592"/>
            <a:ext cx="8869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E2732"/>
                </a:solidFill>
                <a:latin typeface="Aptos"/>
              </a:rPr>
              <a:t>Handling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12648"/>
            <a:ext cx="8778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45C67"/>
                </a:solidFill>
                <a:latin typeface="Aptos"/>
              </a:rPr>
              <a:t>First rebuild what was known at planning time. Then model only that.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12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75564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08176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E11421"/>
                </a:solidFill>
                <a:latin typeface="Aptos"/>
              </a:rPr>
              <a:t>2,657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7556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E2732"/>
                </a:solidFill>
                <a:latin typeface="Aptos"/>
              </a:rPr>
              <a:t>Raw sprints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4" y="154533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45C6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98448"/>
            <a:ext cx="175564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408176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23356"/>
                </a:solidFill>
                <a:latin typeface="Aptos"/>
              </a:rPr>
              <a:t>2,610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47088"/>
            <a:ext cx="17556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E2732"/>
                </a:solidFill>
                <a:latin typeface="Aptos"/>
              </a:rPr>
              <a:t>Eligible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54533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45C6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19472" y="1298448"/>
            <a:ext cx="175564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1408176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23356"/>
                </a:solidFill>
                <a:latin typeface="Aptos"/>
              </a:rPr>
              <a:t>− 8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847088"/>
            <a:ext cx="17556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E2732"/>
                </a:solidFill>
                <a:latin typeface="Aptos"/>
              </a:rPr>
              <a:t>Cold starts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154533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45C6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5744" y="1298448"/>
            <a:ext cx="175564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95744" y="1408176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E11421"/>
                </a:solidFill>
                <a:latin typeface="Aptos"/>
              </a:rPr>
              <a:t>2,602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847088"/>
            <a:ext cx="17556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E2732"/>
                </a:solidFill>
                <a:latin typeface="Aptos"/>
              </a:rPr>
              <a:t>Modeled sprints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1298448"/>
            <a:ext cx="235915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53728" y="1298448"/>
            <a:ext cx="73152" cy="960120"/>
          </a:xfrm>
          <a:prstGeom prst="rect">
            <a:avLst/>
          </a:prstGeom>
          <a:solidFill>
            <a:srgbClr val="E1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36607" y="1408176"/>
            <a:ext cx="2084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E11421"/>
                </a:solidFill>
                <a:latin typeface="Aptos"/>
              </a:rPr>
              <a:t>20,603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7" y="1819655"/>
            <a:ext cx="20848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2732"/>
                </a:solidFill>
                <a:latin typeface="Aptos"/>
              </a:rPr>
              <a:t>reconstructed issue–sprint commitments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788920"/>
            <a:ext cx="345643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2953512"/>
            <a:ext cx="3063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11421"/>
                </a:solidFill>
                <a:latin typeface="Aptos"/>
              </a:rPr>
              <a:t>1 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319272"/>
            <a:ext cx="30358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732"/>
                </a:solidFill>
                <a:latin typeface="Aptos"/>
              </a:rPr>
              <a:t>Drop FUTURE and ACTIVE sprints and sprints with impossible timestamps. Drop one true cold start per project.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788920"/>
            <a:ext cx="345643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2953512"/>
            <a:ext cx="3063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3356"/>
                </a:solidFill>
                <a:latin typeface="Aptos"/>
              </a:rPr>
              <a:t>2  RECONSTRUCT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9272"/>
            <a:ext cx="30358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732"/>
                </a:solidFill>
                <a:latin typeface="Aptos"/>
              </a:rPr>
              <a:t>Replay the Jira change history back to the sprint start to see which issues were in the sprint and their story points.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1" y="2788920"/>
            <a:ext cx="345643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1" y="2953512"/>
            <a:ext cx="3063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3356"/>
                </a:solidFill>
                <a:latin typeface="Aptos"/>
              </a:rPr>
              <a:t>3  PREVENT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1" y="3319272"/>
            <a:ext cx="3035808" cy="1123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 dirty="0">
                <a:solidFill>
                  <a:srgbClr val="1E2732"/>
                </a:solidFill>
                <a:latin typeface="Aptos"/>
              </a:rPr>
              <a:t>Only use what was known at sprint start. </a:t>
            </a:r>
            <a:endParaRPr lang="en-US" sz="1250" b="0" dirty="0">
              <a:solidFill>
                <a:srgbClr val="1E2732"/>
              </a:solidFill>
              <a:latin typeface="Aptos"/>
            </a:endParaRPr>
          </a:p>
          <a:p>
            <a:r>
              <a:rPr lang="en-US" sz="1400" dirty="0"/>
              <a:t>We split by time inside each project: earlier 70% to train, later 30% to test.</a:t>
            </a:r>
            <a:endParaRPr sz="1250" b="0" dirty="0">
              <a:solidFill>
                <a:srgbClr val="1E2732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6928" y="5074920"/>
            <a:ext cx="11045952" cy="868680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EEC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5280660"/>
            <a:ext cx="1600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B37014"/>
                </a:solidFill>
                <a:latin typeface="Aptos"/>
              </a:rPr>
              <a:t>Main data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237500"/>
            <a:ext cx="88239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400" dirty="0"/>
              <a:t>Some issues have no recorded Sprint or Story Points changes. We use the current Jira value for those, and we re-ran the models to check that this does not drive the results.</a:t>
            </a:r>
            <a:endParaRPr sz="1220" b="0" dirty="0">
              <a:solidFill>
                <a:srgbClr val="1E2732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1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6574536"/>
            <a:ext cx="8046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Aptos"/>
              </a:rPr>
              <a:t>CSBP711 Advanced Artificial Intelligence  |  Datasets and Algorithm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74536"/>
            <a:ext cx="320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053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74151"/>
                </a:solidFill>
              </a:rPr>
              <a:t>Test sets: 786 sprints (late closure), 511 (spillover, nonempty). Class balance: about 31% late and 94% spillover among nonempty sprints, so ROC-AUC is the headline metric and F1 is shown for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1700784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64592"/>
            <a:ext cx="8869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E2732"/>
                </a:solidFill>
                <a:latin typeface="Aptos"/>
              </a:rPr>
              <a:t>Algorithms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99990"/>
            <a:ext cx="877824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45C67"/>
                </a:solidFill>
                <a:latin typeface="Aptos"/>
              </a:rPr>
              <a:t>A simple baseline, simple models and tree models, all tested the same way on a time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12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2487168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2011680" cy="310896"/>
          </a:xfrm>
          <a:prstGeom prst="roundRect">
            <a:avLst/>
          </a:prstGeom>
          <a:solidFill>
            <a:srgbClr val="E1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011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ALWAYS POSITIVE / PREVALENCE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E2732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3969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1" dirty="0"/>
              <a:t>Reference point:</a:t>
            </a:r>
            <a:r>
              <a:rPr lang="en-US" sz="1400" dirty="0"/>
              <a:t> what you get with no learning at all</a:t>
            </a:r>
            <a:endParaRPr sz="1220" b="0" dirty="0">
              <a:solidFill>
                <a:srgbClr val="545C6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46704" y="1298448"/>
            <a:ext cx="2487168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11296" y="1481328"/>
            <a:ext cx="1874519" cy="310896"/>
          </a:xfrm>
          <a:prstGeom prst="roundRect">
            <a:avLst/>
          </a:prstGeom>
          <a:solidFill>
            <a:srgbClr val="12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11296" y="1481328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SCOPE-ONLY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1938528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E2732"/>
                </a:solidFill>
                <a:latin typeface="Aptos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143" y="2415338"/>
            <a:ext cx="2322729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/>
              <a:t>Issues + Story Points + sprint length</a:t>
            </a:r>
            <a:endParaRPr lang="en-US" sz="1400" b="1" dirty="0"/>
          </a:p>
          <a:p>
            <a:r>
              <a:rPr lang="en-US" sz="1400" b="1" dirty="0"/>
              <a:t>Simple and readable:</a:t>
            </a:r>
            <a:r>
              <a:rPr lang="en-US" sz="1400" dirty="0"/>
              <a:t> does the starting scope alone carry most of the signal?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1396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23356"/>
                </a:solidFill>
                <a:latin typeface="Aptos"/>
              </a:rPr>
              <a:t>transparent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298448"/>
            <a:ext cx="2487168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91072" y="1481328"/>
            <a:ext cx="1874519" cy="310896"/>
          </a:xfrm>
          <a:prstGeom prst="roundRect">
            <a:avLst/>
          </a:prstGeom>
          <a:solidFill>
            <a:srgbClr val="E1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1481328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FULL FEATURE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938528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E2732"/>
                </a:solidFill>
                <a:latin typeface="Aptos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281428"/>
            <a:ext cx="213969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/>
              <a:t>Scope + recent history + project identity</a:t>
            </a:r>
            <a:endParaRPr lang="en-US" sz="1400" b="1" dirty="0"/>
          </a:p>
          <a:p>
            <a:r>
              <a:rPr lang="en-US" sz="1400" b="1" dirty="0"/>
              <a:t>Flexible, non-linear:</a:t>
            </a:r>
            <a:r>
              <a:rPr lang="en-US" sz="1400" dirty="0"/>
              <a:t> do history and project add anything on top of scope?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694176"/>
            <a:ext cx="21396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E11421"/>
                </a:solidFill>
                <a:latin typeface="Aptos"/>
              </a:rPr>
              <a:t>300 trees • depth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298448"/>
            <a:ext cx="2487168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70848" y="1481328"/>
            <a:ext cx="1874519" cy="310896"/>
          </a:xfrm>
          <a:prstGeom prst="roundRect">
            <a:avLst/>
          </a:prstGeom>
          <a:solidFill>
            <a:srgbClr val="12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70848" y="1481328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FULL FEATURE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1938528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E2732"/>
                </a:solidFill>
                <a:latin typeface="Aptos"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333239"/>
            <a:ext cx="2139696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/>
              <a:t>Same full predictor set</a:t>
            </a:r>
            <a:endParaRPr lang="en-US" sz="1400" b="1" dirty="0"/>
          </a:p>
          <a:p>
            <a:r>
              <a:rPr lang="en-US" sz="1400" b="1" dirty="0"/>
              <a:t>Another tree model:</a:t>
            </a:r>
            <a:r>
              <a:rPr lang="en-US" sz="1400" dirty="0"/>
              <a:t> does boosting beat the random forest?</a:t>
            </a:r>
            <a:endParaRPr sz="1220" b="0" dirty="0">
              <a:solidFill>
                <a:srgbClr val="545C67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70848" y="3694176"/>
            <a:ext cx="21396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23356"/>
                </a:solidFill>
                <a:latin typeface="Aptos"/>
              </a:rPr>
              <a:t>300 trees • depth 4 • lr 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7" y="4579582"/>
            <a:ext cx="2743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123356"/>
                </a:solidFill>
                <a:latin typeface="Aptos"/>
              </a:rPr>
              <a:t>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965192"/>
            <a:ext cx="2487168" cy="786384"/>
          </a:xfrm>
          <a:prstGeom prst="roundRect">
            <a:avLst/>
          </a:prstGeom>
          <a:solidFill>
            <a:srgbClr val="F2F4F6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" y="5038344"/>
            <a:ext cx="2267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11421"/>
                </a:solidFill>
                <a:latin typeface="Aptos"/>
              </a:rPr>
              <a:t>ROC-AUC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321808"/>
            <a:ext cx="2267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45C67"/>
                </a:solidFill>
                <a:latin typeface="Aptos"/>
              </a:rPr>
              <a:t>Primary ranking metric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6704" y="4965192"/>
            <a:ext cx="2487168" cy="786384"/>
          </a:xfrm>
          <a:prstGeom prst="roundRect">
            <a:avLst/>
          </a:prstGeom>
          <a:solidFill>
            <a:srgbClr val="F2F4F6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56432" y="5038344"/>
            <a:ext cx="2267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356"/>
                </a:solidFill>
                <a:latin typeface="Aptos"/>
              </a:rPr>
              <a:t>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5321808"/>
            <a:ext cx="2267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dirty="0">
                <a:solidFill>
                  <a:srgbClr val="545C67"/>
                </a:solidFill>
                <a:latin typeface="Aptos"/>
              </a:rPr>
              <a:t>Fixed threshold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965192"/>
            <a:ext cx="2487168" cy="786384"/>
          </a:xfrm>
          <a:prstGeom prst="roundRect">
            <a:avLst/>
          </a:prstGeom>
          <a:solidFill>
            <a:srgbClr val="F2F4F6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6208" y="5038344"/>
            <a:ext cx="2267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356"/>
                </a:solidFill>
                <a:latin typeface="Aptos"/>
              </a:rPr>
              <a:t>70 /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5299282"/>
            <a:ext cx="226771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dirty="0">
                <a:solidFill>
                  <a:srgbClr val="545C67"/>
                </a:solidFill>
                <a:latin typeface="Aptos"/>
              </a:rPr>
              <a:t> </a:t>
            </a:r>
            <a:r>
              <a:rPr lang="en-US" sz="950" dirty="0">
                <a:latin typeface="Aptos" panose="020B0004020202020204" pitchFamily="34" charset="0"/>
              </a:rPr>
              <a:t>Earlier vs later sprints, per project</a:t>
            </a:r>
            <a:endParaRPr sz="950" dirty="0">
              <a:solidFill>
                <a:srgbClr val="545C67"/>
              </a:solidFill>
              <a:latin typeface="Aptos" panose="020B0004020202020204" pitchFamily="3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906256" y="4965192"/>
            <a:ext cx="2487168" cy="786384"/>
          </a:xfrm>
          <a:prstGeom prst="roundRect">
            <a:avLst/>
          </a:prstGeom>
          <a:solidFill>
            <a:srgbClr val="F2F4F6"/>
          </a:solidFill>
          <a:ln w="10160">
            <a:solidFill>
              <a:srgbClr val="DD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15984" y="5038344"/>
            <a:ext cx="2267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356"/>
                </a:solidFill>
                <a:latin typeface="Aptos"/>
              </a:rPr>
              <a:t>Same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5321808"/>
            <a:ext cx="2267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45C67"/>
                </a:solidFill>
                <a:latin typeface="Aptos"/>
              </a:rPr>
              <a:t>Fair preprocessing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961888"/>
            <a:ext cx="64008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45C67"/>
                </a:solidFill>
                <a:latin typeface="Aptos"/>
              </a:rPr>
              <a:t>Also reported: F1 • Precision • Recall • PR-AUC • Brier 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1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" y="6574536"/>
            <a:ext cx="8046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Aptos"/>
              </a:rPr>
              <a:t>CSBP711 Advanced Artificial Intelligence  |  Datasets and Algorithm Comparison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74536"/>
            <a:ext cx="320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7F01BDE-80CA-361A-F822-736C3E5EC889}"/>
              </a:ext>
            </a:extLst>
          </p:cNvPr>
          <p:cNvSpPr txBox="1"/>
          <p:nvPr/>
        </p:nvSpPr>
        <p:spPr>
          <a:xfrm>
            <a:off x="594360" y="228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32C37"/>
                </a:solidFill>
                <a:latin typeface="Aptos"/>
              </a:rPr>
              <a:t>Results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FE9A02-9B4B-9AC0-7FF2-C9AD6253E35E}"/>
              </a:ext>
            </a:extLst>
          </p:cNvPr>
          <p:cNvSpPr txBox="1"/>
          <p:nvPr/>
        </p:nvSpPr>
        <p:spPr>
          <a:xfrm>
            <a:off x="612648" y="658368"/>
            <a:ext cx="7772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525B69"/>
                </a:solidFill>
                <a:latin typeface="Aptos"/>
              </a:rPr>
              <a:t>The two outcomes behave differently: late closure needs context, </a:t>
            </a:r>
            <a:r>
              <a:rPr lang="en-US" sz="950" b="0" dirty="0">
                <a:solidFill>
                  <a:srgbClr val="525B69"/>
                </a:solidFill>
                <a:latin typeface="Aptos"/>
              </a:rPr>
              <a:t>spillover</a:t>
            </a:r>
            <a:r>
              <a:rPr sz="950" b="0" dirty="0">
                <a:solidFill>
                  <a:srgbClr val="525B69"/>
                </a:solidFill>
                <a:latin typeface="Aptos"/>
              </a:rPr>
              <a:t> is mostly about scope</a:t>
            </a:r>
          </a:p>
        </p:txBody>
      </p:sp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6FF49F78-C506-9F4B-9238-30D13CE21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737360" cy="34747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53B9AE2-BCAC-50B4-F44D-9347A6BB69D9}"/>
              </a:ext>
            </a:extLst>
          </p:cNvPr>
          <p:cNvSpPr/>
          <p:nvPr/>
        </p:nvSpPr>
        <p:spPr>
          <a:xfrm>
            <a:off x="0" y="950976"/>
            <a:ext cx="12191695" cy="32004"/>
          </a:xfrm>
          <a:prstGeom prst="rect">
            <a:avLst/>
          </a:prstGeom>
          <a:solidFill>
            <a:srgbClr val="17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ounded Rectangle 113">
            <a:extLst>
              <a:ext uri="{FF2B5EF4-FFF2-40B4-BE49-F238E27FC236}">
                <a16:creationId xmlns:a16="http://schemas.microsoft.com/office/drawing/2014/main" id="{F1329BA2-2DAA-3F92-C581-24BADD633BF1}"/>
              </a:ext>
            </a:extLst>
          </p:cNvPr>
          <p:cNvSpPr/>
          <p:nvPr/>
        </p:nvSpPr>
        <p:spPr>
          <a:xfrm>
            <a:off x="7818120" y="1298448"/>
            <a:ext cx="3703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C7F2F87C-2380-12A0-9435-EB283A1566EA}"/>
              </a:ext>
            </a:extLst>
          </p:cNvPr>
          <p:cNvSpPr txBox="1"/>
          <p:nvPr/>
        </p:nvSpPr>
        <p:spPr>
          <a:xfrm>
            <a:off x="81381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1423"/>
                </a:solidFill>
                <a:latin typeface="Aptos"/>
              </a:rPr>
              <a:t>LATE CLOSURE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613A7EE-A7CD-274B-8CD2-BC5D388D41F7}"/>
              </a:ext>
            </a:extLst>
          </p:cNvPr>
          <p:cNvSpPr txBox="1"/>
          <p:nvPr/>
        </p:nvSpPr>
        <p:spPr>
          <a:xfrm>
            <a:off x="813816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A5B"/>
                </a:solidFill>
                <a:latin typeface="Aptos"/>
              </a:rPr>
              <a:t>0.705 AUC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432CF7B-1022-B0FD-EC98-0D7DF96D65D8}"/>
              </a:ext>
            </a:extLst>
          </p:cNvPr>
          <p:cNvSpPr txBox="1"/>
          <p:nvPr/>
        </p:nvSpPr>
        <p:spPr>
          <a:xfrm>
            <a:off x="8138160" y="23317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5B69"/>
                </a:solidFill>
                <a:latin typeface="Aptos"/>
              </a:rPr>
              <a:t>Random Forest ranks best here. XGBoost is close behind at 0.695.</a:t>
            </a:r>
          </a:p>
        </p:txBody>
      </p:sp>
      <p:sp>
        <p:nvSpPr>
          <p:cNvPr id="254" name="Rounded Rectangle 117">
            <a:extLst>
              <a:ext uri="{FF2B5EF4-FFF2-40B4-BE49-F238E27FC236}">
                <a16:creationId xmlns:a16="http://schemas.microsoft.com/office/drawing/2014/main" id="{9DA1E340-5203-D2E8-91F9-97B13012A286}"/>
              </a:ext>
            </a:extLst>
          </p:cNvPr>
          <p:cNvSpPr/>
          <p:nvPr/>
        </p:nvSpPr>
        <p:spPr>
          <a:xfrm>
            <a:off x="7818120" y="3154680"/>
            <a:ext cx="3703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DF5C93D-37A4-21D1-34A7-EEA1E8D2CBA2}"/>
              </a:ext>
            </a:extLst>
          </p:cNvPr>
          <p:cNvSpPr txBox="1"/>
          <p:nvPr/>
        </p:nvSpPr>
        <p:spPr>
          <a:xfrm>
            <a:off x="8138160" y="341071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dirty="0">
                <a:solidFill>
                  <a:srgbClr val="173A5B"/>
                </a:solidFill>
                <a:latin typeface="Aptos"/>
              </a:rPr>
              <a:t>SPILLOVER</a:t>
            </a:r>
            <a:endParaRPr sz="1000" b="1" dirty="0">
              <a:solidFill>
                <a:srgbClr val="173A5B"/>
              </a:solidFill>
              <a:latin typeface="Aptos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F2850985-3958-794B-AF90-B763AC94F471}"/>
              </a:ext>
            </a:extLst>
          </p:cNvPr>
          <p:cNvSpPr txBox="1"/>
          <p:nvPr/>
        </p:nvSpPr>
        <p:spPr>
          <a:xfrm>
            <a:off x="8138160" y="37307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ED1423"/>
                </a:solidFill>
                <a:latin typeface="Aptos"/>
              </a:rPr>
              <a:t>0.885 AUC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D1DFE47-B0B8-8938-490E-8DA9676744B2}"/>
              </a:ext>
            </a:extLst>
          </p:cNvPr>
          <p:cNvSpPr txBox="1"/>
          <p:nvPr/>
        </p:nvSpPr>
        <p:spPr>
          <a:xfrm>
            <a:off x="8138160" y="41879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5B69"/>
                </a:solidFill>
                <a:latin typeface="Aptos"/>
              </a:rPr>
              <a:t>The simple scope-only model ranks best, ahead of the Random Forest at 0.852.</a:t>
            </a:r>
          </a:p>
        </p:txBody>
      </p:sp>
      <p:sp>
        <p:nvSpPr>
          <p:cNvPr id="262" name="Rounded Rectangle 121">
            <a:extLst>
              <a:ext uri="{FF2B5EF4-FFF2-40B4-BE49-F238E27FC236}">
                <a16:creationId xmlns:a16="http://schemas.microsoft.com/office/drawing/2014/main" id="{7F239079-38F8-016F-11D3-A40E62C1F87F}"/>
              </a:ext>
            </a:extLst>
          </p:cNvPr>
          <p:cNvSpPr/>
          <p:nvPr/>
        </p:nvSpPr>
        <p:spPr>
          <a:xfrm>
            <a:off x="566928" y="5458968"/>
            <a:ext cx="10954512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C1D5B68-803D-9C1B-9561-D4E4BA86E4F6}"/>
              </a:ext>
            </a:extLst>
          </p:cNvPr>
          <p:cNvSpPr txBox="1"/>
          <p:nvPr/>
        </p:nvSpPr>
        <p:spPr>
          <a:xfrm>
            <a:off x="804672" y="5504688"/>
            <a:ext cx="10469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" b="0">
                <a:solidFill>
                  <a:srgbClr val="525B69"/>
                </a:solidFill>
                <a:latin typeface="Aptos"/>
              </a:rPr>
              <a:t>Late closure uses all sprints (test n = 786). Spillover uses sprints with committed scope (test n = 511). Every model gets the same split, preprocessing and seed (42). Train time is the median of 5 fits. † We could not run XGBoost where we built this table, so its scores are from our saved run. The 1.795 s was timed by the team with xgboost installed.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32EFC31-7889-655D-96D8-8AD9F2A679E5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D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7D21005-66FB-6F70-7D01-EB8870694218}"/>
              </a:ext>
            </a:extLst>
          </p:cNvPr>
          <p:cNvSpPr txBox="1"/>
          <p:nvPr/>
        </p:nvSpPr>
        <p:spPr>
          <a:xfrm>
            <a:off x="457200" y="6629400"/>
            <a:ext cx="6583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FFFFFF"/>
                </a:solidFill>
                <a:latin typeface="Aptos"/>
              </a:rPr>
              <a:t>CSBP711 Advanced Artificial Intelligence  |  Datasets and Algorithm Comparison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4BD16BF-91AA-4BA1-659D-54AED6A5FD10}"/>
              </a:ext>
            </a:extLst>
          </p:cNvPr>
          <p:cNvSpPr txBox="1"/>
          <p:nvPr/>
        </p:nvSpPr>
        <p:spPr>
          <a:xfrm>
            <a:off x="11567160" y="6629400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graphicFrame>
        <p:nvGraphicFramePr>
          <p:cNvPr id="271" name="Table 270"/>
          <p:cNvGraphicFramePr>
            <a:graphicFrameLocks noGrp="1"/>
          </p:cNvGraphicFramePr>
          <p:nvPr/>
        </p:nvGraphicFramePr>
        <p:xfrm>
          <a:off x="566928" y="1188720"/>
          <a:ext cx="6784848" cy="4073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Outcome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Train time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Model size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Late closure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Always-positive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.477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0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no fitted model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Late closure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Scope-only LR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.336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.530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0.0053 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4 coefficients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Late closure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.453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.636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0.0081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16 coefficients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Late closure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.562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.705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0.4389 s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300 trees / 15,374 nodes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Late closure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XGBoost 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.535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.695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1.7950 s 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300 trees, depth 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Spillover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Always-positive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.971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.500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0 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no fitted model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Spillover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Scope-only LR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.696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.885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0.0061 s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32C37"/>
                          </a:solidFill>
                          <a:latin typeface="Aptos"/>
                        </a:rPr>
                        <a:t>4 coefficients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Spillover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.763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.829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0.0122 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16 coefficients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Spillover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.875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.852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0.3557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300 trees / 10,308 nodes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Spillover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XGBoost †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.963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.862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— †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32C37"/>
                          </a:solidFill>
                          <a:latin typeface="Aptos"/>
                        </a:rPr>
                        <a:t>300 trees, depth 4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D8AB6EED-5510-DD56-8D0C-983040E59C2C}"/>
              </a:ext>
            </a:extLst>
          </p:cNvPr>
          <p:cNvSpPr txBox="1"/>
          <p:nvPr/>
        </p:nvSpPr>
        <p:spPr>
          <a:xfrm>
            <a:off x="502920" y="20116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100" b="1">
                <a:solidFill>
                  <a:srgbClr val="222B35"/>
                </a:solidFill>
                <a:latin typeface="Aptos"/>
              </a:defRPr>
            </a:pPr>
            <a:r>
              <a:t>Why? Explanation + Ablation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9C3377-FD8F-A0BB-CD34-ED1F606D1F41}"/>
              </a:ext>
            </a:extLst>
          </p:cNvPr>
          <p:cNvSpPr txBox="1"/>
          <p:nvPr/>
        </p:nvSpPr>
        <p:spPr>
          <a:xfrm>
            <a:off x="521207" y="61264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>
                <a:solidFill>
                  <a:srgbClr val="4E5763"/>
                </a:solidFill>
                <a:latin typeface="Aptos"/>
              </a:defRPr>
            </a:pPr>
            <a:r>
              <a:t>The best result comes from a property of the data, not from a fancier model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69C65B-A140-0B28-1B6A-EA73975F3B05}"/>
              </a:ext>
            </a:extLst>
          </p:cNvPr>
          <p:cNvSpPr/>
          <p:nvPr/>
        </p:nvSpPr>
        <p:spPr>
          <a:xfrm>
            <a:off x="0" y="804672"/>
            <a:ext cx="12191695" cy="254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A61B57-566A-B6B9-4C72-3F2524934877}"/>
              </a:ext>
            </a:extLst>
          </p:cNvPr>
          <p:cNvSpPr txBox="1"/>
          <p:nvPr/>
        </p:nvSpPr>
        <p:spPr>
          <a:xfrm>
            <a:off x="9866376" y="283464"/>
            <a:ext cx="475488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Aptos"/>
              </a:defRPr>
            </a:pPr>
            <a:r>
              <a:t>UAEU</a:t>
            </a:r>
          </a:p>
        </p:txBody>
      </p: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172E6E1A-728D-EA59-8BD1-482D646000AF}"/>
              </a:ext>
            </a:extLst>
          </p:cNvPr>
          <p:cNvSpPr/>
          <p:nvPr/>
        </p:nvSpPr>
        <p:spPr>
          <a:xfrm>
            <a:off x="502920" y="1069848"/>
            <a:ext cx="52578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9D2A97D9-278F-91B1-B387-D70B8869037D}"/>
              </a:ext>
            </a:extLst>
          </p:cNvPr>
          <p:cNvSpPr/>
          <p:nvPr/>
        </p:nvSpPr>
        <p:spPr>
          <a:xfrm>
            <a:off x="6080760" y="1069848"/>
            <a:ext cx="52578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8D2091-B459-2BFB-3C4A-4451F6406351}"/>
              </a:ext>
            </a:extLst>
          </p:cNvPr>
          <p:cNvSpPr txBox="1"/>
          <p:nvPr/>
        </p:nvSpPr>
        <p:spPr>
          <a:xfrm>
            <a:off x="804672" y="1307592"/>
            <a:ext cx="4956048" cy="233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20" b="1">
                <a:solidFill>
                  <a:srgbClr val="18395B"/>
                </a:solidFill>
                <a:latin typeface="Aptos"/>
              </a:defRPr>
            </a:pPr>
            <a:r>
              <a:rPr dirty="0"/>
              <a:t>Late closure: RF wins (AUC .705)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22D95F-1B7D-6EBF-5076-DE9B957D1A2D}"/>
              </a:ext>
            </a:extLst>
          </p:cNvPr>
          <p:cNvSpPr txBox="1"/>
          <p:nvPr/>
        </p:nvSpPr>
        <p:spPr>
          <a:xfrm>
            <a:off x="804672" y="1682496"/>
            <a:ext cx="44805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4E5763"/>
                </a:solidFill>
                <a:latin typeface="Aptos"/>
              </a:defRPr>
            </a:pPr>
            <a:r>
              <a:t>A weaker signal that depends on the project. Late sprints start bigger (on time → late):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D23287-843A-882C-EAED-3756F217C2B7}"/>
              </a:ext>
            </a:extLst>
          </p:cNvPr>
          <p:cNvSpPr txBox="1"/>
          <p:nvPr/>
        </p:nvSpPr>
        <p:spPr>
          <a:xfrm>
            <a:off x="804672" y="2084831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ED1826"/>
                </a:solidFill>
                <a:latin typeface="Aptos"/>
              </a:defRPr>
            </a:pPr>
            <a:r>
              <a:t>7.3 → 8.8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A95DB0-31ED-992A-136C-B2F6F0EAFD5D}"/>
              </a:ext>
            </a:extLst>
          </p:cNvPr>
          <p:cNvSpPr txBox="1"/>
          <p:nvPr/>
        </p:nvSpPr>
        <p:spPr>
          <a:xfrm>
            <a:off x="813816" y="2395728"/>
            <a:ext cx="1143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4E5763"/>
                </a:solidFill>
                <a:latin typeface="Aptos"/>
              </a:defRPr>
            </a:pPr>
            <a:r>
              <a:t>mean issues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A1E16A-F82F-FDCE-7CE6-ABE41341F0FB}"/>
              </a:ext>
            </a:extLst>
          </p:cNvPr>
          <p:cNvSpPr txBox="1"/>
          <p:nvPr/>
        </p:nvSpPr>
        <p:spPr>
          <a:xfrm>
            <a:off x="2240280" y="2084831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395B"/>
                </a:solidFill>
                <a:latin typeface="Aptos"/>
              </a:defRPr>
            </a:pPr>
            <a:r>
              <a:t>32.9 → 38.3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41BC0A-1E77-B7AF-FFFB-0C3F84B0573D}"/>
              </a:ext>
            </a:extLst>
          </p:cNvPr>
          <p:cNvSpPr txBox="1"/>
          <p:nvPr/>
        </p:nvSpPr>
        <p:spPr>
          <a:xfrm>
            <a:off x="2249424" y="2395728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4E5763"/>
                </a:solidFill>
                <a:latin typeface="Aptos"/>
              </a:defRPr>
            </a:pPr>
            <a:r>
              <a:t>mean story points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E23670-9292-A1CB-3742-226301FC2EE2}"/>
              </a:ext>
            </a:extLst>
          </p:cNvPr>
          <p:cNvSpPr txBox="1"/>
          <p:nvPr/>
        </p:nvSpPr>
        <p:spPr>
          <a:xfrm>
            <a:off x="3886200" y="2075688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22B35"/>
                </a:solidFill>
                <a:latin typeface="Aptos"/>
              </a:defRPr>
            </a:pPr>
            <a:r>
              <a:t>Project identity +</a:t>
            </a:r>
            <a:br/>
            <a:r>
              <a:t>sprint length</a:t>
            </a:r>
            <a:br/>
            <a:r>
              <a:t>contribute most.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600144-D5C0-5BC9-0386-D0A9422B43F9}"/>
              </a:ext>
            </a:extLst>
          </p:cNvPr>
          <p:cNvSpPr txBox="1"/>
          <p:nvPr/>
        </p:nvSpPr>
        <p:spPr>
          <a:xfrm>
            <a:off x="6382512" y="1252728"/>
            <a:ext cx="4572000" cy="44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30" b="1">
                <a:solidFill>
                  <a:srgbClr val="ED1826"/>
                </a:solidFill>
                <a:latin typeface="Aptos"/>
              </a:defRPr>
            </a:pPr>
            <a:r>
              <a:rPr lang="en-US" dirty="0"/>
              <a:t>Spillover: Scope-only LR wins (AUC .885)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50B327-4732-A454-19AD-81C35178DA4B}"/>
              </a:ext>
            </a:extLst>
          </p:cNvPr>
          <p:cNvSpPr txBox="1"/>
          <p:nvPr/>
        </p:nvSpPr>
        <p:spPr>
          <a:xfrm>
            <a:off x="6382512" y="1810512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4E5763"/>
                </a:solidFill>
                <a:latin typeface="Aptos"/>
              </a:defRPr>
            </a:pPr>
            <a:r>
              <a:t>How much work was committed is what matters.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BD8A6F-2629-29FF-AACD-5CCC05A08450}"/>
              </a:ext>
            </a:extLst>
          </p:cNvPr>
          <p:cNvSpPr txBox="1"/>
          <p:nvPr/>
        </p:nvSpPr>
        <p:spPr>
          <a:xfrm>
            <a:off x="6382512" y="2148840"/>
            <a:ext cx="1645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18395B"/>
                </a:solidFill>
                <a:latin typeface="Aptos"/>
              </a:defRPr>
            </a:pPr>
            <a:r>
              <a:rPr lang="en-US" dirty="0"/>
              <a:t> -</a:t>
            </a:r>
            <a:r>
              <a:rPr dirty="0"/>
              <a:t>0.220 AUC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D72153-8E98-369B-E786-883EDAA7FD72}"/>
              </a:ext>
            </a:extLst>
          </p:cNvPr>
          <p:cNvSpPr txBox="1"/>
          <p:nvPr/>
        </p:nvSpPr>
        <p:spPr>
          <a:xfrm>
            <a:off x="6391656" y="2459736"/>
            <a:ext cx="22402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30" b="0">
                <a:solidFill>
                  <a:srgbClr val="4E5763"/>
                </a:solidFill>
                <a:latin typeface="Aptos"/>
              </a:defRPr>
            </a:pPr>
            <a:r>
              <a:t>when committed issue count is shuffled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4C2512-6DB2-7F03-FC48-939A3F706767}"/>
              </a:ext>
            </a:extLst>
          </p:cNvPr>
          <p:cNvSpPr txBox="1"/>
          <p:nvPr/>
        </p:nvSpPr>
        <p:spPr>
          <a:xfrm>
            <a:off x="9189720" y="217627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222B35"/>
                </a:solidFill>
                <a:latin typeface="Aptos"/>
              </a:defRPr>
            </a:pPr>
            <a:r>
              <a:t>Next-largest drop: only</a:t>
            </a:r>
            <a:br/>
            <a:r>
              <a:t>0.021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2E5FCC-F5AA-56B6-E6A3-C9E38DFD62FF}"/>
              </a:ext>
            </a:extLst>
          </p:cNvPr>
          <p:cNvSpPr txBox="1"/>
          <p:nvPr/>
        </p:nvSpPr>
        <p:spPr>
          <a:xfrm>
            <a:off x="566928" y="3255264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222B35"/>
                </a:solidFill>
                <a:latin typeface="Aptos"/>
              </a:defRPr>
            </a:pPr>
            <a:r>
              <a:t>Feature-group ablation</a:t>
            </a:r>
          </a:p>
        </p:txBody>
      </p:sp>
      <p:sp>
        <p:nvSpPr>
          <p:cNvPr id="132" name="Rounded Rectangle 52">
            <a:extLst>
              <a:ext uri="{FF2B5EF4-FFF2-40B4-BE49-F238E27FC236}">
                <a16:creationId xmlns:a16="http://schemas.microsoft.com/office/drawing/2014/main" id="{939BB60E-3C79-6FEE-6445-A03116D4B534}"/>
              </a:ext>
            </a:extLst>
          </p:cNvPr>
          <p:cNvSpPr/>
          <p:nvPr/>
        </p:nvSpPr>
        <p:spPr>
          <a:xfrm>
            <a:off x="6537960" y="3611880"/>
            <a:ext cx="4754880" cy="1389888"/>
          </a:xfrm>
          <a:prstGeom prst="roundRect">
            <a:avLst/>
          </a:prstGeom>
          <a:solidFill>
            <a:srgbClr val="F0F8F5"/>
          </a:solidFill>
          <a:ln w="12700">
            <a:solidFill>
              <a:srgbClr val="B2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C33D84B-55B1-E1DE-E3F3-3851536944AE}"/>
              </a:ext>
            </a:extLst>
          </p:cNvPr>
          <p:cNvSpPr txBox="1"/>
          <p:nvPr/>
        </p:nvSpPr>
        <p:spPr>
          <a:xfrm>
            <a:off x="6876288" y="385876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1F805E"/>
                </a:solidFill>
                <a:latin typeface="Aptos"/>
              </a:defRPr>
            </a:pPr>
            <a:r>
              <a:t>What the ablation shows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A8D57CB-38F8-FA7B-C329-B67DDE5431BC}"/>
              </a:ext>
            </a:extLst>
          </p:cNvPr>
          <p:cNvSpPr txBox="1"/>
          <p:nvPr/>
        </p:nvSpPr>
        <p:spPr>
          <a:xfrm>
            <a:off x="6876288" y="4114800"/>
            <a:ext cx="4297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222B35"/>
                </a:solidFill>
                <a:latin typeface="Aptos"/>
              </a:defRPr>
            </a:pPr>
            <a:r>
              <a:rPr sz="950"/>
              <a:t>Our guess: if starting scope drives spillover, taking it out should break the ranking. It does. RF AUC falls from .852 to .652 without scope, well below the 3-feature scope-only LR (.885). For late closure the scope-only model is at chance (.530) and dropping scope barely matters (.705 → .690).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AD2FD26-8F92-1B4B-B07F-DDFA1D70B95D}"/>
              </a:ext>
            </a:extLst>
          </p:cNvPr>
          <p:cNvSpPr txBox="1"/>
          <p:nvPr/>
        </p:nvSpPr>
        <p:spPr>
          <a:xfrm>
            <a:off x="576072" y="5422392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18395B"/>
                </a:solidFill>
                <a:latin typeface="Aptos"/>
              </a:defRPr>
            </a:pPr>
            <a:r>
              <a:t>Takeaway: how much work a sprint starts with explains most of the unfinished-work signal (shuffling committed issue count costs 0.220 AUC). Late closure stays weaker and depends on the project (shuffling project costs 0.104).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BBD09CF-EEA7-1539-FD2E-FFC4F0BD0B1B}"/>
              </a:ext>
            </a:extLst>
          </p:cNvPr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9D3B381-26CC-6DE5-1358-9E80247C5129}"/>
              </a:ext>
            </a:extLst>
          </p:cNvPr>
          <p:cNvSpPr txBox="1"/>
          <p:nvPr/>
        </p:nvSpPr>
        <p:spPr>
          <a:xfrm>
            <a:off x="438912" y="6656832"/>
            <a:ext cx="548640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1">
                <a:solidFill>
                  <a:srgbClr val="FFFFFF"/>
                </a:solidFill>
                <a:latin typeface="Aptos"/>
              </a:defRPr>
            </a:pPr>
            <a:r>
              <a:rPr sz="750" dirty="0"/>
              <a:t>CSBP711 Advanced Artificial Intelligence  |  Datasets and Algorithm Comparison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FDFD62F-852E-CF27-73A4-D8F05FC59DCE}"/>
              </a:ext>
            </a:extLst>
          </p:cNvPr>
          <p:cNvSpPr txBox="1"/>
          <p:nvPr/>
        </p:nvSpPr>
        <p:spPr>
          <a:xfrm>
            <a:off x="11594592" y="6656832"/>
            <a:ext cx="16459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46" name="Picture 145" descr="image.png">
            <a:extLst>
              <a:ext uri="{FF2B5EF4-FFF2-40B4-BE49-F238E27FC236}">
                <a16:creationId xmlns:a16="http://schemas.microsoft.com/office/drawing/2014/main" id="{2DAAB4E5-B9BF-D286-465C-9971DB25A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737360" cy="347472"/>
          </a:xfrm>
          <a:prstGeom prst="rect">
            <a:avLst/>
          </a:prstGeom>
        </p:spPr>
      </p:pic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502920" y="3547872"/>
          <a:ext cx="580644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Random Forest features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Spillover AUC (n = 511)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Late closure AUC (n = 786)</a:t>
                      </a:r>
                    </a:p>
                  </a:txBody>
                  <a:tcPr marL="45720" marR="45720" marT="18288" marB="18288" anchor="ctr">
                    <a:solidFill>
                      <a:srgbClr val="173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C37"/>
                          </a:solidFill>
                        </a:rPr>
                        <a:t>Full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.852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C37"/>
                          </a:solidFill>
                        </a:rPr>
                        <a:t>Planning only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.871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.706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C37"/>
                          </a:solidFill>
                        </a:rPr>
                        <a:t>History only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.636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.625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C37"/>
                          </a:solidFill>
                        </a:rPr>
                        <a:t>No project identity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.866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32C37"/>
                          </a:solidFill>
                        </a:rPr>
                        <a:t>.696</a:t>
                      </a:r>
                    </a:p>
                  </a:txBody>
                  <a:tcPr marL="45720" marR="45720" marT="18288" marB="18288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32C37"/>
                          </a:solidFill>
                        </a:rPr>
                        <a:t>No committed scope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C37"/>
                          </a:solidFill>
                        </a:rPr>
                        <a:t>.652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C37"/>
                          </a:solidFill>
                        </a:rPr>
                        <a:t>.690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32C37"/>
                          </a:solidFill>
                        </a:rPr>
                        <a:t>Scope-only LR (reference)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C37"/>
                          </a:solidFill>
                        </a:rPr>
                        <a:t>.885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C37"/>
                          </a:solidFill>
                        </a:rPr>
                        <a:t>.530</a:t>
                      </a:r>
                    </a:p>
                  </a:txBody>
                  <a:tcPr marL="45720" marR="45720" marT="18288" marB="18288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1188</Words>
  <Application>Microsoft Office PowerPoint</Application>
  <PresentationFormat>Widescreen</PresentationFormat>
  <Paragraphs>217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Hani AbuSharkh</dc:creator>
  <cp:keywords/>
  <dc:description>generated using python-pptx</dc:description>
  <cp:lastModifiedBy>Maryam Hanif</cp:lastModifiedBy>
  <cp:revision>9</cp:revision>
  <dcterms:created xsi:type="dcterms:W3CDTF">2013-01-27T09:14:16Z</dcterms:created>
  <dcterms:modified xsi:type="dcterms:W3CDTF">2026-10-04T14:31:41Z</dcterms:modified>
  <cp:category/>
</cp:coreProperties>
</file>